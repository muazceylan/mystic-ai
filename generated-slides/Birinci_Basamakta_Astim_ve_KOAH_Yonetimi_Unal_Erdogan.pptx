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31720" y="1051560"/>
            <a:ext cx="1234440" cy="0"/>
          </a:xfrm>
          <a:prstGeom prst="line">
            <a:avLst/>
          </a:prstGeom>
          <a:noFill/>
          <a:ln w="12700">
            <a:solidFill>
              <a:srgbClr val="A77C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31720" y="1298448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Birinci Basamakta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Astım ve KOAH Yönetimi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350008" y="2560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 slayt sunumu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331720" y="4526280"/>
            <a:ext cx="4526280" cy="987552"/>
          </a:xfrm>
          <a:prstGeom prst="roundRect">
            <a:avLst>
              <a:gd name="adj" fmla="val 4630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78608" y="47731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SDÜ Aile Hekimliği ABD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Arş. Gör. Dr. Ünal Erdoğan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359152" y="619963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temeli: kullanıcı tarafından sağlanan yerel kaynaklar, resmi GINA ve resmi GOLD çerçevesi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PLANI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Sunum Akışı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29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554480"/>
          <a:ext cx="10332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Bölüm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İçerik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Giriş, yük ve öğrenim hedefleri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Tanı, ilk değerlendirme ve spirometri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Derecelendirme, izlem ve tedavi ilkeleri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Astım ve KOAH’ta acil durumlar ile sevk kriterleri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Aile hekiminin görevleri, eğitim ve sonuç göstergeleri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4983480"/>
            <a:ext cx="10561320" cy="603504"/>
          </a:xfrm>
          <a:prstGeom prst="roundRect">
            <a:avLst>
              <a:gd name="adj" fmla="val 6061"/>
            </a:avLst>
          </a:prstGeom>
          <a:solidFill>
            <a:srgbClr val="EAF1F7"/>
          </a:solidFill>
          <a:ln w="12700">
            <a:solidFill>
              <a:srgbClr val="2457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5138928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Akış, birinci basamak hekiminin günlük karar basamaklarına göre yapılandırılmıştır.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temeli: Sağlık Bakanlığı Eğitimci Rehberi 2011; verilen astım ve KOAH sunum dosyaları.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Birinci Basamak Açısından Neden Kritik?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1033272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Astım ve KOAH; sık görülen, alevlenme nedeniyle acil başvurulara ve işlev kaybına yol açan kronik hava yolu hastalıklarıdır.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Gecikmiş tanı; gereksiz antibiyotik, yetersiz inhaler tedavi ve geç sevk gibi zincir hatalara neden olabilir.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Aile hekimi; semptom örüntüsünü fark eden, spirometriyi yönlendiren, tedaviyi başlatan ve uzunlamasına izlem sağlayan merkez aktördür.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Başarılı birinci basamak yönetimi; alevlenmeleri, hastane yatışlarını ve yaşam kalitesindeki kaybı azaltır.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41248" y="5230368"/>
            <a:ext cx="10561320" cy="603504"/>
          </a:xfrm>
          <a:prstGeom prst="roundRect">
            <a:avLst>
              <a:gd name="adj" fmla="val 6061"/>
            </a:avLst>
          </a:prstGeom>
          <a:solidFill>
            <a:srgbClr val="F8F1E2"/>
          </a:solidFill>
          <a:ln w="12700">
            <a:solidFill>
              <a:srgbClr val="A77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5385816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tanı + doğru inhaler tedavi + düzenli izlem = en yüksek klinik kazanç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Astım/KOAH Eğitimci Rehberi 2011 ön söz ve rehber tanıtımı.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ÖĞRENIM HEDEFLERI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Sunum sonunda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1033272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Astım ve KOAH’ta tanıyı düşündüren klinik örüntüyü ayırt edebilmek.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Astımda değişken, KOAH’ta kalıcı hava yolu obstrüksiyonunu spirometri ile ilişkilendirebilmek.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İlk değerlendirmede semptom, maruziyet, komorbidite ve alarm bulgularını birlikte ele alabilmek.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Astımda kontrol temelli, KOAH’ta semptom ve alevlenme yükü temelli derecelendirmeyi yorumlayabilmek.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Acil durumları ve sevk gerektiren tabloları gecikmeden tanıyabilmek.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Aile hekimliğinde eğitim, inhaler teknik kontrolü, risk azaltma ve izlem sorumluluklarını yapılandırabilmek.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Eğitimci Rehberi 2011 öğrenim hedefleri; GINA 2024; GOLD resmi çerçevesi.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ÇERÇEVE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Astım ve KOAH: Klinik Karşılaştırma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29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572768"/>
          <a:ext cx="10332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023360"/>
                <a:gridCol w="42062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Başlık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Astım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KOAH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Semptom örüntüsü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Değişken; ataklar, gece uyanması ve tetikleyici ilişkisi belirgin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Daha kalıcı; kronik öksürük, balgam ve efor dispnesi ön planda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Obstrüksiyon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Genellikle değişken ve reversibl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Post-bronkodilatör dönemde kalıcı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profili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Atopi, allerjenler, viral enfeksiyonlar, irritanlar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Sigara, biyokütle, mesleki toz-gaz, ileri yaş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Tedavi odağı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 ve alevlenme riskini azaltmak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Semptom yükü, alevlenme ve işlev kaybını azaltmak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Verilen astım sunumu; verilen KOAH sunumu; Sağlık Bakanlığı Eğitimci Rehberi 2011.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KORUNMA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Faktörleri ve Koruyucu Yaklaşım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1033272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Astımda: atopi, allerjen maruziyeti, sigara dumanı, hava kirliliği, mesleki irritanlar, viral enfeksiyonlar ve bazı ilaçlar.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KOAH’ta: sigara en güçlü etkendir; ayrıca biyokütle, mesleki toz/gaz, dış ortam kirliliği, yaşlanma ve alfa-1 antitripsin eksikliği önemlidir.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Birinci basamakta ilk görev; maruziyeti görünür hale getirmek, paket-yıl hesabı yapmak ve bırakma motivasyonunu her temasta yinelemektir.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Aşı, fiziksel aktivite, çevresel tetikleyici azaltma ve komorbidite yönetimi ilaç dışı korumanın ana bileşenleridir.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41248" y="5230368"/>
            <a:ext cx="10561320" cy="603504"/>
          </a:xfrm>
          <a:prstGeom prst="roundRect">
            <a:avLst>
              <a:gd name="adj" fmla="val 6061"/>
            </a:avLst>
          </a:prstGeom>
          <a:solidFill>
            <a:srgbClr val="FBEAEA"/>
          </a:solidFill>
          <a:ln w="12700">
            <a:solidFill>
              <a:srgbClr val="B547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5385816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faktörünü azaltmadan yalnız ilaç yoğunlaştırmak kalıcı başarı sağlamaz.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2011 rehberi; verilen astım ve KOAH sunumları.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Klinik Şüpheyi Ne Oluşturur?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1033272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Tekrarlayan nefes darlığı, hışıltı, gece uyanması veya göğüste baskı hissi astımı düşündürür.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Kronik öksürük, balgam, efor dispnesi ve sigara/biyokütle maruziyeti erişkinde KOAH lehinedir.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Semptomların zamanı, tetikleyicileri, başlangıç yaşı, önceki alevlenme ve acil başvuru öyküsü mutlaka sorgulanmalıdır.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 fizik muayene astımı dışlatmaz; KOAH tanısı ise spirometri olmadan kesinleştirilmemelidir.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Eğitimci Rehberi 2011; verilen astım sunumu; verilen KOAH sunumu.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Astım Tanısı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29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600200"/>
          <a:ext cx="10332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9552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Bileşen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Klinik yorum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Değişken solunumsal semptomlar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Nefes darlığı, wheezing, öksürük ve göğüs rahatsızlığının zaman ve yoğunluk bakımından değişken olması beklenir.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Objektif değişkenlik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Spirometri, bronkodilatör sonrası düzelme veya seri PEF değişkenliği tanıyı destekler.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zamanlaması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Ciddi atak veya viral enfeksiyon sırasında reversibilite gösterilemeyebilir; gerekirse test tekrarlanmalıdır.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Muayene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solunum sesleri astım tanısını reddettirmez; öykü ve tekrarlı değerlendirme önemlidir.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5074920"/>
            <a:ext cx="10561320" cy="603504"/>
          </a:xfrm>
          <a:prstGeom prst="roundRect">
            <a:avLst>
              <a:gd name="adj" fmla="val 6061"/>
            </a:avLst>
          </a:prstGeom>
          <a:solidFill>
            <a:srgbClr val="EAF1F7"/>
          </a:solidFill>
          <a:ln w="12700">
            <a:solidFill>
              <a:srgbClr val="2457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5230368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GINA çerçevesi: değişken semptom + değişken ekspiratuvar hava akımı kısıtlanması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Verilen astım sunumu (GINA 2023); GINA 2024 rapor sayfası; Sağlık Bakanlığı 2011.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KOAH Tanısı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1033272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Kronik öksürük, balgam, dispne ve risk faktörü maruziyeti olan erişkinde KOAH düşünülmelidir.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Tanı, post-bronkodilatör spirometride FEV1/FVC &lt; 0,70 ile kalıcı hava akımı kısıtlanmasının gösterilmesiyle doğrulanır.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Akciğer grafisi tanıyı koydurmaz; pnömoni, kalp yetersizliği, bronşektazi ve diğer alternatifleri değerlendirmede yardımcıdır.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Semptom yoğunluğu ile obstrüksiyon derecesi her zaman paralel değildir; bu nedenle fonksiyon, semptom ve alevlenme öyküsü birlikte yorumlanmalıdır.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2011 KOAH tanı ve takip bölümü; GOLD resmi doküman çerçevesi.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Spirometriyi Yorumlama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29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572768"/>
          <a:ext cx="10332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3210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Adım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Birinci basamak yorumu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Test kalitesi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Manevra uygun mu, tekrar edilebilir mi, hasta kooperasyonu yeterli mi?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Obstrüksiyon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FEV1/FVC düşüklüğü obstrüktif paterni gösterir; KOAH’ta kalıcılık, astımda değişkenlik aranır.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Klinik bağlam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Semptomlar, maruziyet, PEF değişkenliği ve komorbiditeler eşleştirilmeden sonuç tek başına yorumlanmamalıdır.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İzlem değeri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KOAH’ta seyrin nesnel takibinde; astımda ise tanı destekleme ve kontrol değerlendirmesinde yararlıdır.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2011 SFT temel kavramlar ve tanı bölümleri.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DEĞERLENDIRME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Anamnezde Mutlaka Sorulması Gerekenler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1033272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Semptomların başlangıcı, süresi, gün içi/gece değişkenliği ve tetikleyicileri.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Sigara öyküsü, biyokütle ve mesleki maruziyet, ev içi irritanlar.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Son 12 aydaki alevlenme, sistemik steroid, acil servis başvurusu ve yatış öyküsü.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Mevcut ilaçlar, inhaler cihaz tipi, kullanım tekniği ve tedavi uyumu.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Rinit, atopi, reflü, kalp hastalığı, diyabet, depresyon/anksiyete gibi komorbiditeler.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2011 astım anamnez/fizik muayene ve KOAH tanı-takip bölümleri.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DEĞERLENDIRME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Muayene ve Alarm Bulguları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29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572768"/>
          <a:ext cx="10332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77724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Değerlendirme alanı</a:t>
                      </a:r>
                      <a:endParaRPr lang="en-US" sz="12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Klinik önemi</a:t>
                      </a:r>
                      <a:endParaRPr lang="en-US" sz="12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SpO2, konuşma kapasitesi, bilinç</a:t>
                      </a:r>
                      <a:endParaRPr lang="en-US" sz="12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Acil müdahale ve sevk hızını belirler; tam cümle kuramama ve bilinç değişikliği alarm bulgusudur.</a:t>
                      </a:r>
                      <a:endParaRPr lang="en-US" sz="12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Solunum eforu</a:t>
                      </a:r>
                      <a:endParaRPr lang="en-US" sz="12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Yardımcı kas kullanımı, takipne, paradoksal solunum ve sessiz akciğer ciddi tabloyu düşündürür.</a:t>
                      </a:r>
                      <a:endParaRPr lang="en-US" sz="12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Sistemik bulgular</a:t>
                      </a:r>
                      <a:endParaRPr lang="en-US" sz="12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Siyanoz, aritmi, periferik ödem, kaşeksi ve hemodinamik instabilite riski artırır.</a:t>
                      </a:r>
                      <a:endParaRPr lang="en-US" sz="12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Unutulmaması gereken nokta</a:t>
                      </a:r>
                      <a:endParaRPr lang="en-US" sz="12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muayene özellikle astımda tanıyı dışlatmaz; muayene daha çok ciddiyet değerlendirmesi sağlar.</a:t>
                      </a:r>
                      <a:endParaRPr lang="en-US" sz="12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2011 rehberi; verilen KOAH sunumu fizik muayene slaytları.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DERECELENDIRME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Astımda Klinik Ağırlık Sınıflaması ve Kontrol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29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572768"/>
          <a:ext cx="10332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108960"/>
                <a:gridCol w="2377440"/>
                <a:gridCol w="29260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</a:t>
                      </a:r>
                      <a:endParaRPr lang="en-US" sz="12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Gündüz semptom</a:t>
                      </a:r>
                      <a:endParaRPr lang="en-US" sz="12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Gece</a:t>
                      </a:r>
                      <a:endParaRPr lang="en-US" sz="12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FEV1 / PEF</a:t>
                      </a:r>
                      <a:endParaRPr lang="en-US" sz="12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İntermittan</a:t>
                      </a:r>
                      <a:endParaRPr lang="en-US" sz="12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Haftada 1’den az</a:t>
                      </a:r>
                      <a:endParaRPr lang="en-US" sz="12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Ayda 2’den az</a:t>
                      </a:r>
                      <a:endParaRPr lang="en-US" sz="12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%80</a:t>
                      </a:r>
                      <a:endParaRPr lang="en-US" sz="12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Hafif persistan</a:t>
                      </a:r>
                      <a:endParaRPr lang="en-US" sz="12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Haftada &gt;1, günde &lt;1</a:t>
                      </a:r>
                      <a:endParaRPr lang="en-US" sz="12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Ayda &gt;2</a:t>
                      </a:r>
                      <a:endParaRPr lang="en-US" sz="12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%80</a:t>
                      </a:r>
                      <a:endParaRPr lang="en-US" sz="12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 persistan</a:t>
                      </a:r>
                      <a:endParaRPr lang="en-US" sz="12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Günlük</a:t>
                      </a:r>
                      <a:endParaRPr lang="en-US" sz="12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Haftada &gt;1</a:t>
                      </a:r>
                      <a:endParaRPr lang="en-US" sz="12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%60-80</a:t>
                      </a:r>
                      <a:endParaRPr lang="en-US" sz="12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Ağır persistan</a:t>
                      </a:r>
                      <a:endParaRPr lang="en-US" sz="12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Sürekli / sık alevlenme</a:t>
                      </a:r>
                      <a:endParaRPr lang="en-US" sz="12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Sık</a:t>
                      </a:r>
                      <a:endParaRPr lang="en-US" sz="12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%60</a:t>
                      </a:r>
                      <a:endParaRPr lang="en-US" sz="12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4892040"/>
            <a:ext cx="10561320" cy="603504"/>
          </a:xfrm>
          <a:prstGeom prst="roundRect">
            <a:avLst>
              <a:gd name="adj" fmla="val 6061"/>
            </a:avLst>
          </a:prstGeom>
          <a:solidFill>
            <a:srgbClr val="F8F1E2"/>
          </a:solidFill>
          <a:ln w="12700">
            <a:solidFill>
              <a:srgbClr val="A77C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5047488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 klinik yaklaşımda tedavi kararı, yalnız ağırlığa değil semptom kontrolü ve alevlenme riskine göre verilir.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2011 astım tedavisi ve izlemi bölümü; GINA 2024 yaklaşımı.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DERECELENDIRME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KOAH’ta Ciddiyet Değerlendirmesi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29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572768"/>
          <a:ext cx="10332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4066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Spirometrik evre</a:t>
                      </a:r>
                      <a:endParaRPr lang="en-US" sz="13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1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Tanım</a:t>
                      </a:r>
                      <a:endParaRPr lang="en-US" sz="13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1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1</a:t>
                      </a:r>
                      <a:endParaRPr lang="en-US" sz="13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1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FEV1 ≥ %80</a:t>
                      </a:r>
                      <a:endParaRPr lang="en-US" sz="13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1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2</a:t>
                      </a:r>
                      <a:endParaRPr lang="en-US" sz="13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1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FEV1 %50-79</a:t>
                      </a:r>
                      <a:endParaRPr lang="en-US" sz="13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1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3</a:t>
                      </a:r>
                      <a:endParaRPr lang="en-US" sz="13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1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FEV1 %30-49</a:t>
                      </a:r>
                      <a:endParaRPr lang="en-US" sz="13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1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4</a:t>
                      </a:r>
                      <a:endParaRPr lang="en-US" sz="13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1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FEV1 &lt; %30</a:t>
                      </a:r>
                      <a:endParaRPr lang="en-US" sz="13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96112" y="4617720"/>
            <a:ext cx="102870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Güncel GOLD yaklaşımında başlangıç tedavisi; semptom düzeyi ile geçmiş alevlenme/yatış öyküsünün birlikte değerlendirilmesine dayanır.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 nedenle spirometri biyolojik ciddiyeti, semptom ve alevlenme öyküsü ise bakım ihtiyacını gösterir.</a:t>
            </a:r>
            <a:endParaRPr lang="en-US" sz="1520" dirty="0"/>
          </a:p>
        </p:txBody>
      </p:sp>
      <p:sp>
        <p:nvSpPr>
          <p:cNvPr id="9" name="Shape 6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2011 KOAH tanı-takip bölümü; GOLD 2025 pocket guide resmi çerçevesi.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Birinci Basamak İzlem Döngüsü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29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554480"/>
          <a:ext cx="103327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78638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Adım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Soru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Doğrula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Tanı klinik olarak ve gerektiğinde objektif testlerle net mi?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Değerlendir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Semptom, alevlenme, SpO2, komorbidite ve sosyal destek durumu ne? 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Düzelt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İnhaler teknik, uyum, tetikleyici ve risk faktörleri kontrol edildi mi?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Ayarlama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Step-up, step-down, acil yaklaşım veya sevk kararı gerekli mi?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Yeniden gözden geçir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4-12 hafta içinde yanıt ve güvenlik tekrar değerlendirildi mi?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Rehber içeriklerinden uyarlanmış bütünleşik birinci basamak izlem yaklaşımı.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TEDAVI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Astım Tedavisinin Temel Bileşenleri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1033272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Hasta eğitimi ve hasta-hekim işbirliği tedavinin çekirdeğidir.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faktörlerine maruziyetin azaltılması, ilaç gereksinimini ve alevlenme riskini azaltır.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Tedavi; kontrol düzeyi, alevlenme riski, inhaler teknik ve uyum üzerinden düzenli olarak yeniden değerlendirilmelidir.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Yazılı eylem planı, özellikle kötüleşmeyi erken fark etmeyen hastalarda belirgin yarar sağlar.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41248" y="5230368"/>
            <a:ext cx="10561320" cy="603504"/>
          </a:xfrm>
          <a:prstGeom prst="roundRect">
            <a:avLst>
              <a:gd name="adj" fmla="val 6061"/>
            </a:avLst>
          </a:prstGeom>
          <a:solidFill>
            <a:srgbClr val="EAF1F7"/>
          </a:solidFill>
          <a:ln w="12700">
            <a:solidFill>
              <a:srgbClr val="2457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5385816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Astım yönetimi yalnız ilaç yazmak değil; kontrolü öğretmek ve izlemektir.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2011 astım tedavisi ve izlemi bölümü.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TEDAVI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Astımda Farmakolojik Yaklaşım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29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572768"/>
          <a:ext cx="10332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657600"/>
                <a:gridCol w="2468880"/>
                <a:gridCol w="31089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Basamak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 edici yaklaşım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Rahatlatıcı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Kısa not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 doz İKS içeren yaklaşım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Tercihen ICS-formoterol veya uygun alternatif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Yalnız SABA yaklaşımı tercih edilmez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 doz idame ICS-formoterol / ICS-LABA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Gerektiğinde düşük doz ICS-formoterol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Kontrolsüzlükte teknik ve uyum önce kontrol edilir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 doz idame ICS-formoterol / ICS-LABA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Gerektiğinde aynı rahatlatıcı strateji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yüksekse yakın izlem gerekir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 doz ve ek tedaviler; fenotip değerlendirmesi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Uzmanlık düzeyi planlanır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Şiddetli astım açısından sevk gerekir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Verilen astım sunumu GINA basamak şeması; GINA 2024 resmi rapor sayfası.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ACIL DURUMLAR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Astım Atağında İlk Yaklaşım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29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572768"/>
          <a:ext cx="10332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77724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Başlık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Birinci basamak yaklaşımı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Hızlı değerlendirme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Konuşma kapasitesi, bilinç, vital bulgular, SpO2 ve mümkünse PEF ölçülür.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İlk tedavi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Oksijen, tekrarlayan kısa etkili beta agonist inhalasyonu ve erken sistemik steroid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Yanıt değerlendirmesi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Klinik düzelme ve objektif ölçümlerin güvenli sınıra ulaşıp ulaşmadığı birlikte değerlendirilir.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Yapılmaması gerekenler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6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Rutin antibiyotik, antihistaminik, sedatif ve inhaler mukolitik kullanımı</a:t>
                      </a:r>
                      <a:endParaRPr lang="en-US" sz="12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5074920"/>
            <a:ext cx="10561320" cy="603504"/>
          </a:xfrm>
          <a:prstGeom prst="roundRect">
            <a:avLst>
              <a:gd name="adj" fmla="val 6061"/>
            </a:avLst>
          </a:prstGeom>
          <a:solidFill>
            <a:srgbClr val="FBEAEA"/>
          </a:solidFill>
          <a:ln w="12700">
            <a:solidFill>
              <a:srgbClr val="B547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5230368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cümle kuramama, belirgin hipoksemi ve kötü genel durum ağır atak lehinedir.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2011 astım atak tedavisi bölümü.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Astımda Üst Basamağa Sevk Endikasyonları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1033272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İlk bronkodilatör tedavilerine 1-2 saat içinde yeterli yanıt alınamaması.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Tam cümle kuramama, bilinç değişikliği, belirgin hipoksemi veya kötüleşen genel durum.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PEF ve klinik bulguların güvenli taburculuk sınırlarına ulaşmaması.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Önceki entübasyon/yoğun bakım öyküsü, sık ağır atak veya açıklanamayan kontrolsüzlük.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Tanıda belirsizlik, mesleksel astım kuşkusu veya ileri allerjik/uzman değerlendirme gereksinimi.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2011 rehberi; verilen astım sunumu ağır atak ve acil sevk vurguları.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TEDAVI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 KOAH Yönetimi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1033272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Sigara bırakma, hastalığın doğal seyrine etkisi olan en güçlü müdahalelerden biridir.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Bronkodilatör tedavi semptom kontrolünün temelidir; seçim semptom düzeyi ve alevlenme öyküsüne göre yapılır.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İnhaler teknik, aşı, fiziksel aktivite, beslenme ve komorbidite yönetimi ilaç dışı tedavi kadar önemlidir.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Pulmoner rehabilitasyon; egzersiz kapasitesini, yaşam kalitesini ve günlük aktivite toleransını artırır.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2011 KOAH stabil tedavi ve rehabilitasyon bölümleri.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TEDAVI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KOAH’da Farmakolojik Yaklaşım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29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572768"/>
          <a:ext cx="103327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749040"/>
                <a:gridCol w="35661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9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Hasta örüntüsü</a:t>
                      </a:r>
                      <a:endParaRPr lang="en-US" sz="11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9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Başlangıç yaklaşımı</a:t>
                      </a:r>
                      <a:endParaRPr lang="en-US" sz="11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9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1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9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 semptom / düşük alevlenme</a:t>
                      </a:r>
                      <a:endParaRPr lang="en-US" sz="11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9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İhtiyaca göre veya tek uzun etkili bronkodilatör</a:t>
                      </a:r>
                      <a:endParaRPr lang="en-US" sz="11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9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Hedef: semptom kontrolü ve aktivite korunması</a:t>
                      </a:r>
                      <a:endParaRPr lang="en-US" sz="11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9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 semptom</a:t>
                      </a:r>
                      <a:endParaRPr lang="en-US" sz="11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9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Uzun etkili bronkodilatör; gerekirse çift bronkodilatör</a:t>
                      </a:r>
                      <a:endParaRPr lang="en-US" sz="11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9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Kısa etkili ilaçlara aşırı bağımlılık yetersiz kontroldür</a:t>
                      </a:r>
                      <a:endParaRPr lang="en-US" sz="11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9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Sık alevlenme</a:t>
                      </a:r>
                      <a:endParaRPr lang="en-US" sz="11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9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Bronkodilatör tedaviyi güçlendir; uygun hastada İKS eklenmesini değerlendir</a:t>
                      </a:r>
                      <a:endParaRPr lang="en-US" sz="11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9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Alevlenme öyküsü ve eşlik eden astım önemli belirleyicilerdir</a:t>
                      </a:r>
                      <a:endParaRPr lang="en-US" sz="11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2011 KOAH tedavi bölümü; GOLD resmi strateji çerçevesi.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TEDAVI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KOAH’da Nonfarmakolojik Yaklaşım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1033272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Pulmoner rehabilitasyon; semptomu olan ve günlük aktivitesi azalmış hastalarda kanıta dayalı yarar sağlar.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İnfluenza ve pnömokok başta olmak üzere aşı stratejileri düzenli takip edilmelidir.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Beslenme durumu, kas kaybı, depresyon/anksiyete ve sosyal izolasyon sorgulanmalıdır.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Kronik hipoksemisi olan seçilmiş hastalarda oksijen tedavisi ileri değerlendirme ile planlanır.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2011 KOAH’da nonfarmakolojik tedavi bölümü.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ACIL DURUMLAR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KOAH Alevlenmesinde Ayaktan Yönetim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29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554480"/>
          <a:ext cx="103327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78638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Başlık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Birinci basamak uygulaması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Tanım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Günlük olağan değişimin ötesinde, dispne, öksürük ve/veya balgamda artış ile giden akut kötüleşme.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Bronkodilatör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Kısa etkili bronkodilatör dozu ve sıklığı artırılır; gerekirse kısa etkili antikolinerjik eklenir.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Sistemik steroid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Seçilmiş olguda kısa süreli oral steroid iyileşme süresini kısaltır ve erken nüksü azaltır.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Antibiyotik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Dispne artışı, balgam miktarı artışı ve pürülan balgam varlığında değerlendirilir.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İzlem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SpO2, genel durum, eşlik eden pnömoni/kalp hastalığı ve sosyal destek tekrar gözden geçirilir.</a:t>
                      </a:r>
                      <a:endParaRPr lang="en-US" sz="12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2011 KOAH alevlenmelerinde tanı ve tedavi yaklaşımı bölümü.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KOAH’da Sevk Gerektiren Durumlar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1033272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Yeni siyanoz, periferik ödem, bilinç değişikliği, aritmi veya belirgin istirahat dispnesi.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Başlangıç tedavisine yanıt vermeyen alevlenme ya da ağır KOAH / evde uzun süreli oksijen tedavisi öyküsü.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Pnömoni, kalp hastalığı, diyabet gibi yüksek riskli eşlik eden durumların bulunması.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Tanıda belirsizlik, ileri yaş, yalnız yaşama veya evde bakım koşullarının yetersizliği.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 &lt; 7,35, PaO2 &lt; 60 mmHg veya SaO2 &lt; %90 gibi ciddi gaz değişim bozuklukları.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2011 KOAH alevlenmelerinde sevk kriterleri.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AILE HEKIMININ GÖREVLERI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Birinci Basamakta Merkez Rol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29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572768"/>
          <a:ext cx="10332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77724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Sorumluluk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Riskli hastayı fark etmek, spirometriyi yönlendirmek ve ayırıcı tanıyı korumak.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Tedavi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Kılavuza uygun başlangıç tedavisini başlatmak ve inhaler tekniği göstermek.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İzlem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Kontrol, alevlenme, komorbidite, aşı ve sigara bırakma sürecini düzenli değerlendirmek.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Sevk ve koordinasyon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Üst basamak gereksinimini zamanında belirlemek ve geri bildirim akışını sürdürmek.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Yazılı eylem planı, cihaz kullanımı ve öz-yönetim becerisini her kontrolde pekiştirmek.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2011 rehberinin birinci basamak vurguları temel alınarak düzenlenmiştir.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Hasta Eğitimi ve İnhaler Teknik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1033272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 kontrolde inhaler cihaz hastaya uygulatılmalı; hatalar aynı görüşmede düzeltilmelidir.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Kontrol edici ilaç ile rahatlatıcı ilaç ayrımı açık bir dille anlatılmalıdır.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Astımda yazılı eylem planı, KOAH’ta alevlenmeyi tanıma ve erken başvuru eğitimi verilmelidir.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Sigara bırakma, aşı, fiziksel aktivite ve çevresel tetikleyici azaltma; sürekli eğitim başlıklarıdır.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41248" y="5230368"/>
            <a:ext cx="10561320" cy="603504"/>
          </a:xfrm>
          <a:prstGeom prst="roundRect">
            <a:avLst>
              <a:gd name="adj" fmla="val 6061"/>
            </a:avLst>
          </a:prstGeom>
          <a:solidFill>
            <a:srgbClr val="EAF5EE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5385816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Göster → Uygulat → Düzelt yaklaşımı, inhaler eğitiminde en pratik çerçevedir.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2011 inhaler kullanım teknikleri ve tedavi/izlem bölümleri.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Başarılı Yönetimde Beklenen Sonuçlar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29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572768"/>
          <a:ext cx="10332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77724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Beklenen sonuç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04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Semptom kontrolü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Gündüz/gece yakınmalarında ve rahatlatıcı ilaç gereksiniminde azalma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Alevlenme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Acil başvuru, sistemik steroid ihtiyacı ve yatışlarda azalma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Fonksiyon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Egzersiz kapasitesi, günlük aktivite ve solunum fonksiyonunda iyileşme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Yaşam kalitesi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Uyku, işlevsellik, hasta memnuniyeti ve öz-yönetim becerisinde artış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Güvenlik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8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 etki, yanlış inhaler kullanımı ve gecikmiş sevk riskinde azalma</a:t>
                      </a:r>
                      <a:endParaRPr lang="en-US" sz="12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Sağlık Bakanlığı 2011 rehberi; verilen astım sunumu kontrol odaklı yaklaşım; resmi GINA/GOLD çerçevesi.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KAPANIŞ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Kilit Mesajlar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10332720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Birinci basamakta doğru tanı; semptom örüntüsü, maruziyet öyküsü ve spirometrik doğrulamanın birlikte ele alınmasına dayanır.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Astım ve KOAH’ta tedavi başarısı, ilaç seçiminden çok eğitim, inhaler teknik ve düzenli izlem kalitesi ile belirlenir.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Acil durum ve sevk kararını geciktirmemek, mortaliteyi azaltan temel hekimlik sorumluluğudur.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Akademik olarak güçlü bir sunumun klinik karşılığı; karar anında uygulanabilir, sade ve güvenilir bir yönetim çerçevesidir.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Sunum; verilen yerel kaynaklar ile resmi GINA ve GOLD yaklaşımı sentezlenerek hazırlanmıştır.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304C"/>
          </a:solidFill>
          <a:ln w="12700">
            <a:solidFill>
              <a:srgbClr val="1330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38912"/>
            <a:ext cx="73152" cy="786384"/>
          </a:xfrm>
          <a:prstGeom prst="rect">
            <a:avLst/>
          </a:prstGeom>
          <a:solidFill>
            <a:srgbClr val="A77C2C"/>
          </a:solidFill>
          <a:ln w="12700">
            <a:solidFill>
              <a:srgbClr val="A77C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29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 başvuru kaynakları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0" y="4023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481328"/>
            <a:ext cx="1028700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T.C. Sağlık Bakanlığı Temel Sağlık Hizmetleri Genel Müdürlüğü. Astım ve Kronik Obstrüktif Akciğer Hastalığı (KOAH) Tanı ve Tedavisinde Birinci Basamak Hekimler İçin Eğitim Modülü, Eğitimci Rehberi. Ankara, Mart 2011.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Kullanıcı tarafından sağlanan dosya: /Users/solvia/Downloads/Astim_KOAH_Egitimci_Rehberi.pdf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Kullanıcı tarafından sağlanan dosya: /Users/solvia/Downloads/koah.pptx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Kullanıcı tarafından sağlanan dosya: /Users/solvia/Downloads/astimtanvetedavisi-ailehekimlii-251029202315-7d4432dc.pdf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Global Initiative for Asthma (GINA). 2024 Global Strategy for Asthma Management and Prevention. https://ginasthma.org/2024-report/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Global Initiative for Chronic Obstructive Lung Disease (GOLD). Official strategy resources. https://goldcopd.org/program/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6062472"/>
            <a:ext cx="10863072" cy="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6153912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Telif uyumu amacıyla kaynak içerik doğrudan kopyalanmamış, akademik slayt diliyle sentezlenmiştir.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SDÜ Aile Hekimliği ABD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Birinci Basamakta Astım ve KOAH Yönetimi</dc:title>
  <dc:subject>Birinci basamakta astım ve KOAH yönetimi</dc:subject>
  <dc:creator>OpenAI Codex</dc:creator>
  <cp:lastModifiedBy>OpenAI Codex</cp:lastModifiedBy>
  <cp:revision>1</cp:revision>
  <dcterms:created xsi:type="dcterms:W3CDTF">2026-03-25T12:28:47Z</dcterms:created>
  <dcterms:modified xsi:type="dcterms:W3CDTF">2026-03-25T12:28:47Z</dcterms:modified>
</cp:coreProperties>
</file>